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Bitter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806030504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96647-0B8B-4B6E-9A27-DF04CF28D7F5}" v="1" dt="2026-01-20T15:53:03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354654" y="4241597"/>
            <a:ext cx="6148683" cy="1803644"/>
          </a:xfrm>
          <a:custGeom>
            <a:avLst/>
            <a:gdLst/>
            <a:ahLst/>
            <a:cxnLst/>
            <a:rect l="l" t="t" r="r" b="b"/>
            <a:pathLst>
              <a:path w="6148683" h="1803644">
                <a:moveTo>
                  <a:pt x="0" y="0"/>
                </a:moveTo>
                <a:lnTo>
                  <a:pt x="6148683" y="0"/>
                </a:lnTo>
                <a:lnTo>
                  <a:pt x="6148683" y="1803644"/>
                </a:lnTo>
                <a:lnTo>
                  <a:pt x="0" y="1803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850238" y="3109017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COVID-19 Prediction Using 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5249018"/>
            <a:ext cx="944552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Muna Pun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CU6051NP – Artificial Intelligence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Autumn 2025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Informatics College Pokhara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2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2238" y="1203569"/>
            <a:ext cx="5670652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AI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2791273"/>
            <a:ext cx="4580934" cy="3457870"/>
            <a:chOff x="0" y="0"/>
            <a:chExt cx="6107913" cy="46104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07938" cy="4610481"/>
            </a:xfrm>
            <a:custGeom>
              <a:avLst/>
              <a:gdLst/>
              <a:ahLst/>
              <a:cxnLst/>
              <a:rect l="l" t="t" r="r" b="b"/>
              <a:pathLst>
                <a:path w="6107938" h="461048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64098" y="0"/>
                  </a:lnTo>
                  <a:cubicBezTo>
                    <a:pt x="5998718" y="0"/>
                    <a:pt x="6107938" y="109220"/>
                    <a:pt x="6107938" y="243840"/>
                  </a:cubicBezTo>
                  <a:lnTo>
                    <a:pt x="6107938" y="4366641"/>
                  </a:lnTo>
                  <a:cubicBezTo>
                    <a:pt x="6107938" y="4501261"/>
                    <a:pt x="5998718" y="4610481"/>
                    <a:pt x="5864098" y="4610481"/>
                  </a:cubicBezTo>
                  <a:lnTo>
                    <a:pt x="243840" y="4610481"/>
                  </a:lnTo>
                  <a:cubicBezTo>
                    <a:pt x="109220" y="4610481"/>
                    <a:pt x="0" y="4501261"/>
                    <a:pt x="0" y="4366641"/>
                  </a:cubicBez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2753173"/>
            <a:ext cx="4580934" cy="152400"/>
            <a:chOff x="0" y="0"/>
            <a:chExt cx="6107913" cy="203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07938" cy="203200"/>
            </a:xfrm>
            <a:custGeom>
              <a:avLst/>
              <a:gdLst/>
              <a:ahLst/>
              <a:cxnLst/>
              <a:rect l="l" t="t" r="r" b="b"/>
              <a:pathLst>
                <a:path w="6107938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006338" y="0"/>
                  </a:lnTo>
                  <a:cubicBezTo>
                    <a:pt x="6062472" y="0"/>
                    <a:pt x="6107938" y="45466"/>
                    <a:pt x="6107938" y="101600"/>
                  </a:cubicBezTo>
                  <a:cubicBezTo>
                    <a:pt x="6107938" y="157734"/>
                    <a:pt x="6062472" y="203200"/>
                    <a:pt x="6006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57424" y="2366067"/>
            <a:ext cx="850554" cy="850554"/>
            <a:chOff x="0" y="0"/>
            <a:chExt cx="1134072" cy="11340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12513" y="2464441"/>
            <a:ext cx="340223" cy="53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3859" y="348094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Supervised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3859" y="4027284"/>
            <a:ext cx="393769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Uses labeled data to learn patterns and make predictions.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56684" y="2791273"/>
            <a:ext cx="4581077" cy="3457870"/>
            <a:chOff x="0" y="0"/>
            <a:chExt cx="6108103" cy="46104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08065" cy="4610481"/>
            </a:xfrm>
            <a:custGeom>
              <a:avLst/>
              <a:gdLst/>
              <a:ahLst/>
              <a:cxnLst/>
              <a:rect l="l" t="t" r="r" b="b"/>
              <a:pathLst>
                <a:path w="6108065" h="461048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64225" y="0"/>
                  </a:lnTo>
                  <a:cubicBezTo>
                    <a:pt x="5998845" y="0"/>
                    <a:pt x="6108065" y="109220"/>
                    <a:pt x="6108065" y="243840"/>
                  </a:cubicBezTo>
                  <a:lnTo>
                    <a:pt x="6108065" y="4366641"/>
                  </a:lnTo>
                  <a:cubicBezTo>
                    <a:pt x="6108065" y="4501261"/>
                    <a:pt x="5998845" y="4610481"/>
                    <a:pt x="5864225" y="4610481"/>
                  </a:cubicBezTo>
                  <a:lnTo>
                    <a:pt x="243840" y="4610481"/>
                  </a:lnTo>
                  <a:cubicBezTo>
                    <a:pt x="109220" y="4610481"/>
                    <a:pt x="0" y="4501261"/>
                    <a:pt x="0" y="4366641"/>
                  </a:cubicBez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56684" y="2753173"/>
            <a:ext cx="4581077" cy="152400"/>
            <a:chOff x="0" y="0"/>
            <a:chExt cx="6108103" cy="203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08065" cy="203200"/>
            </a:xfrm>
            <a:custGeom>
              <a:avLst/>
              <a:gdLst/>
              <a:ahLst/>
              <a:cxnLst/>
              <a:rect l="l" t="t" r="r" b="b"/>
              <a:pathLst>
                <a:path w="6108065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006465" y="0"/>
                  </a:lnTo>
                  <a:cubicBezTo>
                    <a:pt x="6062599" y="0"/>
                    <a:pt x="6108065" y="45466"/>
                    <a:pt x="6108065" y="101600"/>
                  </a:cubicBezTo>
                  <a:cubicBezTo>
                    <a:pt x="6108065" y="157734"/>
                    <a:pt x="6062599" y="203200"/>
                    <a:pt x="600646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21870" y="2366067"/>
            <a:ext cx="850554" cy="850554"/>
            <a:chOff x="0" y="0"/>
            <a:chExt cx="1134072" cy="11340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976968" y="2464441"/>
            <a:ext cx="340223" cy="53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8306" y="3505372"/>
            <a:ext cx="3937844" cy="42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Regression Techniques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8306" y="4027284"/>
            <a:ext cx="3937845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Uses two methods: Linear Regression for trends and Random Forest for stronger predictions.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2238" y="6957860"/>
            <a:ext cx="9445523" cy="2096986"/>
            <a:chOff x="0" y="0"/>
            <a:chExt cx="12594031" cy="279598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94082" cy="2796032"/>
            </a:xfrm>
            <a:custGeom>
              <a:avLst/>
              <a:gdLst/>
              <a:ahLst/>
              <a:cxnLst/>
              <a:rect l="l" t="t" r="r" b="b"/>
              <a:pathLst>
                <a:path w="12594082" h="279603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2350242" y="0"/>
                  </a:lnTo>
                  <a:cubicBezTo>
                    <a:pt x="12484862" y="0"/>
                    <a:pt x="12594082" y="109220"/>
                    <a:pt x="12594082" y="243840"/>
                  </a:cubicBezTo>
                  <a:lnTo>
                    <a:pt x="12594082" y="2552192"/>
                  </a:lnTo>
                  <a:cubicBezTo>
                    <a:pt x="12594082" y="2686812"/>
                    <a:pt x="12484862" y="2796032"/>
                    <a:pt x="12350242" y="2796032"/>
                  </a:cubicBezTo>
                  <a:lnTo>
                    <a:pt x="243840" y="2796032"/>
                  </a:lnTo>
                  <a:cubicBezTo>
                    <a:pt x="109220" y="2796032"/>
                    <a:pt x="0" y="2686812"/>
                    <a:pt x="0" y="2552192"/>
                  </a:cubicBez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2238" y="6919760"/>
            <a:ext cx="9445523" cy="152400"/>
            <a:chOff x="0" y="0"/>
            <a:chExt cx="12594031" cy="203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94082" cy="203200"/>
            </a:xfrm>
            <a:custGeom>
              <a:avLst/>
              <a:gdLst/>
              <a:ahLst/>
              <a:cxnLst/>
              <a:rect l="l" t="t" r="r" b="b"/>
              <a:pathLst>
                <a:path w="12594082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2492482" y="0"/>
                  </a:lnTo>
                  <a:cubicBezTo>
                    <a:pt x="12548615" y="0"/>
                    <a:pt x="12594082" y="45466"/>
                    <a:pt x="12594082" y="101600"/>
                  </a:cubicBezTo>
                  <a:cubicBezTo>
                    <a:pt x="12594082" y="157734"/>
                    <a:pt x="12548615" y="203200"/>
                    <a:pt x="12492482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89728" y="6532664"/>
            <a:ext cx="850554" cy="850554"/>
            <a:chOff x="0" y="0"/>
            <a:chExt cx="1134072" cy="11340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544817" y="6631038"/>
            <a:ext cx="340223" cy="53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3859" y="764753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 Evaluation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3859" y="8193881"/>
            <a:ext cx="880229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Measured using MAE, RMSE, and MAPE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022424"/>
            <a:ext cx="5670652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Research &amp; Evidence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354286"/>
            <a:ext cx="950535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COVID-19 Data Analytics: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WHO and Johns Hopkins datasets for analysis and prediction.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360659"/>
            <a:ext cx="950535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Effectiveness: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ML models excel at short-term disease trend forecasting.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367042"/>
            <a:ext cx="950535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Supervised Learning in Healthcare: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Proven methodology for disease trend prediction.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1198866" y="3503857"/>
            <a:ext cx="6106268" cy="2931766"/>
          </a:xfrm>
          <a:custGeom>
            <a:avLst/>
            <a:gdLst/>
            <a:ahLst/>
            <a:cxnLst/>
            <a:rect l="l" t="t" r="r" b="b"/>
            <a:pathLst>
              <a:path w="6106268" h="2931766">
                <a:moveTo>
                  <a:pt x="0" y="0"/>
                </a:moveTo>
                <a:lnTo>
                  <a:pt x="6106268" y="0"/>
                </a:lnTo>
                <a:lnTo>
                  <a:pt x="6106268" y="2931766"/>
                </a:lnTo>
                <a:lnTo>
                  <a:pt x="0" y="293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" b="-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92238" y="7696495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These established methods provide a strong foundation for the reliability and impact of our predictive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695155"/>
            <a:ext cx="6780162" cy="689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dirty="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Why This Topic Matters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99480"/>
            <a:ext cx="850554" cy="850554"/>
          </a:xfrm>
          <a:custGeom>
            <a:avLst/>
            <a:gdLst/>
            <a:ahLst/>
            <a:cxnLst/>
            <a:rect l="l" t="t" r="r" b="b"/>
            <a:pathLst>
              <a:path w="850554" h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10" b="-11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2238" y="418534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731696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Full AI pipeline: data to visualization.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2999480"/>
            <a:ext cx="850554" cy="850554"/>
          </a:xfrm>
          <a:custGeom>
            <a:avLst/>
            <a:gdLst/>
            <a:ahLst/>
            <a:cxnLst/>
            <a:rect l="l" t="t" r="r" b="b"/>
            <a:pathLst>
              <a:path w="850554" h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66" r="-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321108" y="418534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Social Relevance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1108" y="4731696"/>
            <a:ext cx="797465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COVID-19 impact makes accurate prediction crucial for public health.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6291710"/>
            <a:ext cx="850554" cy="850554"/>
          </a:xfrm>
          <a:custGeom>
            <a:avLst/>
            <a:gdLst/>
            <a:ahLst/>
            <a:cxnLst/>
            <a:rect l="l" t="t" r="r" b="b"/>
            <a:pathLst>
              <a:path w="850554" h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2" r="-8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92238" y="747757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Practical Importance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8023917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Enables healthcare planning and resource allocation.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6291710"/>
            <a:ext cx="850554" cy="850554"/>
          </a:xfrm>
          <a:custGeom>
            <a:avLst/>
            <a:gdLst/>
            <a:ahLst/>
            <a:cxnLst/>
            <a:rect l="l" t="t" r="r" b="b"/>
            <a:pathLst>
              <a:path w="850554" h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555" b="-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321108" y="7477573"/>
            <a:ext cx="3785292" cy="42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Learning Opportunity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8023917"/>
            <a:ext cx="797465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Real-world AI application bridging theory and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326822" y="2868511"/>
            <a:ext cx="6204194" cy="4549826"/>
          </a:xfrm>
          <a:custGeom>
            <a:avLst/>
            <a:gdLst/>
            <a:ahLst/>
            <a:cxnLst/>
            <a:rect l="l" t="t" r="r" b="b"/>
            <a:pathLst>
              <a:path w="6204194" h="4549826">
                <a:moveTo>
                  <a:pt x="0" y="0"/>
                </a:moveTo>
                <a:lnTo>
                  <a:pt x="6204194" y="0"/>
                </a:lnTo>
                <a:lnTo>
                  <a:pt x="6204194" y="4549826"/>
                </a:lnTo>
                <a:lnTo>
                  <a:pt x="0" y="4549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773143" y="1227534"/>
            <a:ext cx="8735016" cy="69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Our Solution: Predictive Application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73143" y="2727274"/>
            <a:ext cx="4669041" cy="28575"/>
            <a:chOff x="0" y="0"/>
            <a:chExt cx="6225388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25413" cy="38100"/>
            </a:xfrm>
            <a:custGeom>
              <a:avLst/>
              <a:gdLst/>
              <a:ahLst/>
              <a:cxnLst/>
              <a:rect l="l" t="t" r="r" b="b"/>
              <a:pathLst>
                <a:path w="6225413" h="38100">
                  <a:moveTo>
                    <a:pt x="0" y="0"/>
                  </a:moveTo>
                  <a:lnTo>
                    <a:pt x="6225413" y="0"/>
                  </a:lnTo>
                  <a:lnTo>
                    <a:pt x="62254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773143" y="2896048"/>
            <a:ext cx="3268713" cy="42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User 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3143" y="3394767"/>
            <a:ext cx="4669041" cy="92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dirty="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User enters recent COVID-19 case data.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03673" y="2727274"/>
            <a:ext cx="4669184" cy="28575"/>
            <a:chOff x="0" y="0"/>
            <a:chExt cx="6225578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25540" cy="38100"/>
            </a:xfrm>
            <a:custGeom>
              <a:avLst/>
              <a:gdLst/>
              <a:ahLst/>
              <a:cxnLst/>
              <a:rect l="l" t="t" r="r" b="b"/>
              <a:pathLst>
                <a:path w="6225540" h="38100">
                  <a:moveTo>
                    <a:pt x="0" y="0"/>
                  </a:moveTo>
                  <a:lnTo>
                    <a:pt x="6225540" y="0"/>
                  </a:lnTo>
                  <a:lnTo>
                    <a:pt x="62255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703673" y="2896048"/>
            <a:ext cx="3268713" cy="42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Data Processing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03673" y="3394767"/>
            <a:ext cx="4669184" cy="92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system processes the input using trained machine learning models.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73143" y="5190534"/>
            <a:ext cx="4669041" cy="28575"/>
            <a:chOff x="0" y="0"/>
            <a:chExt cx="6225388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25413" cy="38100"/>
            </a:xfrm>
            <a:custGeom>
              <a:avLst/>
              <a:gdLst/>
              <a:ahLst/>
              <a:cxnLst/>
              <a:rect l="l" t="t" r="r" b="b"/>
              <a:pathLst>
                <a:path w="6225413" h="38100">
                  <a:moveTo>
                    <a:pt x="0" y="0"/>
                  </a:moveTo>
                  <a:lnTo>
                    <a:pt x="6225413" y="0"/>
                  </a:lnTo>
                  <a:lnTo>
                    <a:pt x="62254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773143" y="5359298"/>
            <a:ext cx="3268713" cy="42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Trend Analysis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3143" y="5858027"/>
            <a:ext cx="4669041" cy="92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model analyzes trends from past data.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703673" y="5190534"/>
            <a:ext cx="4669184" cy="28575"/>
            <a:chOff x="0" y="0"/>
            <a:chExt cx="6225578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25540" cy="38100"/>
            </a:xfrm>
            <a:custGeom>
              <a:avLst/>
              <a:gdLst/>
              <a:ahLst/>
              <a:cxnLst/>
              <a:rect l="l" t="t" r="r" b="b"/>
              <a:pathLst>
                <a:path w="6225540" h="38100">
                  <a:moveTo>
                    <a:pt x="0" y="0"/>
                  </a:moveTo>
                  <a:lnTo>
                    <a:pt x="6225540" y="0"/>
                  </a:lnTo>
                  <a:lnTo>
                    <a:pt x="62255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03673" y="5359298"/>
            <a:ext cx="3268713" cy="42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Case Prediction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03673" y="5858027"/>
            <a:ext cx="4669184" cy="92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system predicts next-day COVID-19 cases.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773143" y="7653785"/>
            <a:ext cx="9599714" cy="28575"/>
            <a:chOff x="0" y="0"/>
            <a:chExt cx="12799619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99568" cy="38100"/>
            </a:xfrm>
            <a:custGeom>
              <a:avLst/>
              <a:gdLst/>
              <a:ahLst/>
              <a:cxnLst/>
              <a:rect l="l" t="t" r="r" b="b"/>
              <a:pathLst>
                <a:path w="12799568" h="38100">
                  <a:moveTo>
                    <a:pt x="0" y="0"/>
                  </a:moveTo>
                  <a:lnTo>
                    <a:pt x="12799568" y="0"/>
                  </a:lnTo>
                  <a:lnTo>
                    <a:pt x="1279956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773143" y="7822559"/>
            <a:ext cx="3268713" cy="42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Informed Decisions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73143" y="8321278"/>
            <a:ext cx="9599714" cy="50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Results help in making early and informed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00005" y="1180412"/>
            <a:ext cx="4258866" cy="5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Results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2409530" y="2013642"/>
            <a:ext cx="5858770" cy="6326686"/>
          </a:xfrm>
          <a:custGeom>
            <a:avLst/>
            <a:gdLst/>
            <a:ahLst/>
            <a:cxnLst/>
            <a:rect l="l" t="t" r="r" b="b"/>
            <a:pathLst>
              <a:path w="5858770" h="6326686">
                <a:moveTo>
                  <a:pt x="0" y="0"/>
                </a:moveTo>
                <a:lnTo>
                  <a:pt x="5858770" y="0"/>
                </a:lnTo>
                <a:lnTo>
                  <a:pt x="5858770" y="6326686"/>
                </a:lnTo>
                <a:lnTo>
                  <a:pt x="0" y="6326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" r="-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408319" y="2008880"/>
            <a:ext cx="6484144" cy="4044258"/>
            <a:chOff x="0" y="0"/>
            <a:chExt cx="8645525" cy="5392344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8632825" cy="5379593"/>
            </a:xfrm>
            <a:custGeom>
              <a:avLst/>
              <a:gdLst/>
              <a:ahLst/>
              <a:cxnLst/>
              <a:rect l="l" t="t" r="r" b="b"/>
              <a:pathLst>
                <a:path w="8632825" h="5379593">
                  <a:moveTo>
                    <a:pt x="0" y="119253"/>
                  </a:moveTo>
                  <a:cubicBezTo>
                    <a:pt x="0" y="53340"/>
                    <a:pt x="53467" y="0"/>
                    <a:pt x="119380" y="0"/>
                  </a:cubicBezTo>
                  <a:lnTo>
                    <a:pt x="8513445" y="0"/>
                  </a:lnTo>
                  <a:cubicBezTo>
                    <a:pt x="8579358" y="0"/>
                    <a:pt x="8632825" y="53340"/>
                    <a:pt x="8632825" y="119253"/>
                  </a:cubicBezTo>
                  <a:lnTo>
                    <a:pt x="8632825" y="5260340"/>
                  </a:lnTo>
                  <a:cubicBezTo>
                    <a:pt x="8632825" y="5326253"/>
                    <a:pt x="8579358" y="5379593"/>
                    <a:pt x="8513445" y="5379593"/>
                  </a:cubicBezTo>
                  <a:lnTo>
                    <a:pt x="119380" y="5379593"/>
                  </a:lnTo>
                  <a:cubicBezTo>
                    <a:pt x="53467" y="5379593"/>
                    <a:pt x="0" y="5326253"/>
                    <a:pt x="0" y="5260340"/>
                  </a:cubicBezTo>
                  <a:close/>
                </a:path>
              </a:pathLst>
            </a:custGeom>
            <a:solidFill>
              <a:srgbClr val="FCE2C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645525" cy="5392293"/>
            </a:xfrm>
            <a:custGeom>
              <a:avLst/>
              <a:gdLst/>
              <a:ahLst/>
              <a:cxnLst/>
              <a:rect l="l" t="t" r="r" b="b"/>
              <a:pathLst>
                <a:path w="8645525" h="5392293">
                  <a:moveTo>
                    <a:pt x="0" y="125603"/>
                  </a:moveTo>
                  <a:cubicBezTo>
                    <a:pt x="0" y="56261"/>
                    <a:pt x="56261" y="0"/>
                    <a:pt x="125730" y="0"/>
                  </a:cubicBezTo>
                  <a:lnTo>
                    <a:pt x="8519795" y="0"/>
                  </a:lnTo>
                  <a:lnTo>
                    <a:pt x="8519795" y="6350"/>
                  </a:lnTo>
                  <a:lnTo>
                    <a:pt x="8519795" y="0"/>
                  </a:lnTo>
                  <a:cubicBezTo>
                    <a:pt x="8589263" y="0"/>
                    <a:pt x="8645525" y="56261"/>
                    <a:pt x="8645525" y="125603"/>
                  </a:cubicBezTo>
                  <a:lnTo>
                    <a:pt x="8639175" y="125603"/>
                  </a:lnTo>
                  <a:lnTo>
                    <a:pt x="8645525" y="125603"/>
                  </a:lnTo>
                  <a:lnTo>
                    <a:pt x="8645525" y="5266690"/>
                  </a:lnTo>
                  <a:lnTo>
                    <a:pt x="8639175" y="5266690"/>
                  </a:lnTo>
                  <a:lnTo>
                    <a:pt x="8645525" y="5266690"/>
                  </a:lnTo>
                  <a:cubicBezTo>
                    <a:pt x="8645525" y="5336032"/>
                    <a:pt x="8589263" y="5392293"/>
                    <a:pt x="8519795" y="5392293"/>
                  </a:cubicBezTo>
                  <a:lnTo>
                    <a:pt x="8519795" y="5385943"/>
                  </a:lnTo>
                  <a:lnTo>
                    <a:pt x="8519795" y="5392293"/>
                  </a:lnTo>
                  <a:lnTo>
                    <a:pt x="125730" y="5392293"/>
                  </a:lnTo>
                  <a:lnTo>
                    <a:pt x="125730" y="5385943"/>
                  </a:lnTo>
                  <a:lnTo>
                    <a:pt x="125730" y="5392293"/>
                  </a:lnTo>
                  <a:cubicBezTo>
                    <a:pt x="56261" y="5392293"/>
                    <a:pt x="0" y="5336032"/>
                    <a:pt x="0" y="5266690"/>
                  </a:cubicBezTo>
                  <a:lnTo>
                    <a:pt x="0" y="125603"/>
                  </a:lnTo>
                  <a:lnTo>
                    <a:pt x="6350" y="125603"/>
                  </a:lnTo>
                  <a:lnTo>
                    <a:pt x="0" y="125603"/>
                  </a:lnTo>
                  <a:moveTo>
                    <a:pt x="12700" y="125603"/>
                  </a:moveTo>
                  <a:lnTo>
                    <a:pt x="12700" y="5266690"/>
                  </a:lnTo>
                  <a:lnTo>
                    <a:pt x="6350" y="5266690"/>
                  </a:lnTo>
                  <a:lnTo>
                    <a:pt x="12700" y="5266690"/>
                  </a:lnTo>
                  <a:cubicBezTo>
                    <a:pt x="12700" y="5329047"/>
                    <a:pt x="63246" y="5379593"/>
                    <a:pt x="125730" y="5379593"/>
                  </a:cubicBezTo>
                  <a:lnTo>
                    <a:pt x="8519795" y="5379593"/>
                  </a:lnTo>
                  <a:cubicBezTo>
                    <a:pt x="8582278" y="5379593"/>
                    <a:pt x="8632825" y="5329047"/>
                    <a:pt x="8632825" y="5266690"/>
                  </a:cubicBezTo>
                  <a:lnTo>
                    <a:pt x="8632825" y="125603"/>
                  </a:lnTo>
                  <a:cubicBezTo>
                    <a:pt x="8632825" y="63246"/>
                    <a:pt x="8582278" y="12700"/>
                    <a:pt x="8519795" y="12700"/>
                  </a:cubicBezTo>
                  <a:lnTo>
                    <a:pt x="125730" y="12700"/>
                  </a:lnTo>
                  <a:lnTo>
                    <a:pt x="125730" y="6350"/>
                  </a:lnTo>
                  <a:lnTo>
                    <a:pt x="125730" y="12700"/>
                  </a:lnTo>
                  <a:cubicBezTo>
                    <a:pt x="63246" y="12700"/>
                    <a:pt x="12700" y="63246"/>
                    <a:pt x="12700" y="125603"/>
                  </a:cubicBezTo>
                  <a:close/>
                </a:path>
              </a:pathLst>
            </a:custGeom>
            <a:solidFill>
              <a:srgbClr val="E2C8B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35433" y="2235994"/>
            <a:ext cx="638766" cy="638766"/>
            <a:chOff x="0" y="0"/>
            <a:chExt cx="851687" cy="8516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1662" cy="851662"/>
            </a:xfrm>
            <a:custGeom>
              <a:avLst/>
              <a:gdLst/>
              <a:ahLst/>
              <a:cxnLst/>
              <a:rect l="l" t="t" r="r" b="b"/>
              <a:pathLst>
                <a:path w="851662" h="851662">
                  <a:moveTo>
                    <a:pt x="0" y="425831"/>
                  </a:moveTo>
                  <a:cubicBezTo>
                    <a:pt x="0" y="190627"/>
                    <a:pt x="190627" y="0"/>
                    <a:pt x="425831" y="0"/>
                  </a:cubicBezTo>
                  <a:cubicBezTo>
                    <a:pt x="661035" y="0"/>
                    <a:pt x="851662" y="190627"/>
                    <a:pt x="851662" y="425831"/>
                  </a:cubicBezTo>
                  <a:cubicBezTo>
                    <a:pt x="851662" y="661035"/>
                    <a:pt x="661035" y="851662"/>
                    <a:pt x="425831" y="851662"/>
                  </a:cubicBezTo>
                  <a:cubicBezTo>
                    <a:pt x="190627" y="851662"/>
                    <a:pt x="0" y="661035"/>
                    <a:pt x="0" y="425831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9811045" y="2411616"/>
            <a:ext cx="287388" cy="287388"/>
          </a:xfrm>
          <a:custGeom>
            <a:avLst/>
            <a:gdLst/>
            <a:ahLst/>
            <a:cxnLst/>
            <a:rect l="l" t="t" r="r" b="b"/>
            <a:pathLst>
              <a:path w="287388" h="287388">
                <a:moveTo>
                  <a:pt x="0" y="0"/>
                </a:moveTo>
                <a:lnTo>
                  <a:pt x="287389" y="0"/>
                </a:lnTo>
                <a:lnTo>
                  <a:pt x="287389" y="287388"/>
                </a:lnTo>
                <a:lnTo>
                  <a:pt x="0" y="287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838" r="-4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35433" y="3078061"/>
            <a:ext cx="2661790" cy="34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5433" y="3566522"/>
            <a:ext cx="6029916" cy="7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Linear Regression provides more accurate and stable short-term predictions.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5433" y="4322264"/>
            <a:ext cx="6029916" cy="7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Linear Regression closely follows the actual COVID-19 case trend, showing very low MAE, RMSE, and MAPE.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35433" y="5078016"/>
            <a:ext cx="6029916" cy="7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Random Forest Regression shows larger deviation from actual values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08319" y="6256439"/>
            <a:ext cx="6484144" cy="2873426"/>
            <a:chOff x="0" y="0"/>
            <a:chExt cx="8645525" cy="3831234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632825" cy="3818509"/>
            </a:xfrm>
            <a:custGeom>
              <a:avLst/>
              <a:gdLst/>
              <a:ahLst/>
              <a:cxnLst/>
              <a:rect l="l" t="t" r="r" b="b"/>
              <a:pathLst>
                <a:path w="8632825" h="3818509">
                  <a:moveTo>
                    <a:pt x="0" y="119253"/>
                  </a:moveTo>
                  <a:cubicBezTo>
                    <a:pt x="0" y="53340"/>
                    <a:pt x="53467" y="0"/>
                    <a:pt x="119507" y="0"/>
                  </a:cubicBezTo>
                  <a:lnTo>
                    <a:pt x="8513318" y="0"/>
                  </a:lnTo>
                  <a:cubicBezTo>
                    <a:pt x="8579358" y="0"/>
                    <a:pt x="8632825" y="53340"/>
                    <a:pt x="8632825" y="119253"/>
                  </a:cubicBezTo>
                  <a:lnTo>
                    <a:pt x="8632825" y="3699256"/>
                  </a:lnTo>
                  <a:cubicBezTo>
                    <a:pt x="8632825" y="3765169"/>
                    <a:pt x="8579358" y="3818509"/>
                    <a:pt x="8513318" y="3818509"/>
                  </a:cubicBezTo>
                  <a:lnTo>
                    <a:pt x="119507" y="3818509"/>
                  </a:lnTo>
                  <a:cubicBezTo>
                    <a:pt x="53467" y="3818509"/>
                    <a:pt x="0" y="3765169"/>
                    <a:pt x="0" y="3699256"/>
                  </a:cubicBezTo>
                  <a:close/>
                </a:path>
              </a:pathLst>
            </a:custGeom>
            <a:solidFill>
              <a:srgbClr val="FCE2C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8645525" cy="3831209"/>
            </a:xfrm>
            <a:custGeom>
              <a:avLst/>
              <a:gdLst/>
              <a:ahLst/>
              <a:cxnLst/>
              <a:rect l="l" t="t" r="r" b="b"/>
              <a:pathLst>
                <a:path w="8645525" h="3831209">
                  <a:moveTo>
                    <a:pt x="0" y="125603"/>
                  </a:moveTo>
                  <a:cubicBezTo>
                    <a:pt x="0" y="56261"/>
                    <a:pt x="56388" y="0"/>
                    <a:pt x="125857" y="0"/>
                  </a:cubicBezTo>
                  <a:lnTo>
                    <a:pt x="8519668" y="0"/>
                  </a:lnTo>
                  <a:lnTo>
                    <a:pt x="8519668" y="6350"/>
                  </a:lnTo>
                  <a:lnTo>
                    <a:pt x="8519668" y="0"/>
                  </a:lnTo>
                  <a:cubicBezTo>
                    <a:pt x="8589137" y="0"/>
                    <a:pt x="8645525" y="56261"/>
                    <a:pt x="8645525" y="125603"/>
                  </a:cubicBezTo>
                  <a:lnTo>
                    <a:pt x="8639175" y="125603"/>
                  </a:lnTo>
                  <a:lnTo>
                    <a:pt x="8645525" y="125603"/>
                  </a:lnTo>
                  <a:lnTo>
                    <a:pt x="8645525" y="3705606"/>
                  </a:lnTo>
                  <a:lnTo>
                    <a:pt x="8639175" y="3705606"/>
                  </a:lnTo>
                  <a:lnTo>
                    <a:pt x="8645525" y="3705606"/>
                  </a:lnTo>
                  <a:cubicBezTo>
                    <a:pt x="8645525" y="3774948"/>
                    <a:pt x="8589137" y="3831209"/>
                    <a:pt x="8519668" y="3831209"/>
                  </a:cubicBezTo>
                  <a:lnTo>
                    <a:pt x="8519668" y="3824859"/>
                  </a:lnTo>
                  <a:lnTo>
                    <a:pt x="8519668" y="3831209"/>
                  </a:lnTo>
                  <a:lnTo>
                    <a:pt x="125857" y="3831209"/>
                  </a:lnTo>
                  <a:lnTo>
                    <a:pt x="125857" y="3824859"/>
                  </a:lnTo>
                  <a:lnTo>
                    <a:pt x="125857" y="3831209"/>
                  </a:lnTo>
                  <a:cubicBezTo>
                    <a:pt x="56388" y="3831209"/>
                    <a:pt x="0" y="3774948"/>
                    <a:pt x="0" y="3705606"/>
                  </a:cubicBezTo>
                  <a:lnTo>
                    <a:pt x="0" y="125603"/>
                  </a:lnTo>
                  <a:lnTo>
                    <a:pt x="6350" y="125603"/>
                  </a:lnTo>
                  <a:lnTo>
                    <a:pt x="0" y="125603"/>
                  </a:lnTo>
                  <a:moveTo>
                    <a:pt x="12700" y="125603"/>
                  </a:moveTo>
                  <a:lnTo>
                    <a:pt x="12700" y="3705606"/>
                  </a:lnTo>
                  <a:lnTo>
                    <a:pt x="6350" y="3705606"/>
                  </a:lnTo>
                  <a:lnTo>
                    <a:pt x="12700" y="3705606"/>
                  </a:lnTo>
                  <a:cubicBezTo>
                    <a:pt x="12700" y="3767963"/>
                    <a:pt x="63373" y="3818509"/>
                    <a:pt x="125857" y="3818509"/>
                  </a:cubicBezTo>
                  <a:lnTo>
                    <a:pt x="8519668" y="3818509"/>
                  </a:lnTo>
                  <a:cubicBezTo>
                    <a:pt x="8582152" y="3818509"/>
                    <a:pt x="8632825" y="3767963"/>
                    <a:pt x="8632825" y="3705606"/>
                  </a:cubicBezTo>
                  <a:lnTo>
                    <a:pt x="8632825" y="125603"/>
                  </a:lnTo>
                  <a:cubicBezTo>
                    <a:pt x="8632825" y="63246"/>
                    <a:pt x="8582152" y="12700"/>
                    <a:pt x="8519668" y="12700"/>
                  </a:cubicBezTo>
                  <a:lnTo>
                    <a:pt x="125857" y="12700"/>
                  </a:lnTo>
                  <a:lnTo>
                    <a:pt x="125857" y="6350"/>
                  </a:lnTo>
                  <a:lnTo>
                    <a:pt x="125857" y="12700"/>
                  </a:lnTo>
                  <a:cubicBezTo>
                    <a:pt x="63373" y="12700"/>
                    <a:pt x="12700" y="63246"/>
                    <a:pt x="12700" y="125603"/>
                  </a:cubicBezTo>
                  <a:close/>
                </a:path>
              </a:pathLst>
            </a:custGeom>
            <a:solidFill>
              <a:srgbClr val="E2C8B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35433" y="6483553"/>
            <a:ext cx="638766" cy="638766"/>
            <a:chOff x="0" y="0"/>
            <a:chExt cx="851687" cy="8516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1662" cy="851662"/>
            </a:xfrm>
            <a:custGeom>
              <a:avLst/>
              <a:gdLst/>
              <a:ahLst/>
              <a:cxnLst/>
              <a:rect l="l" t="t" r="r" b="b"/>
              <a:pathLst>
                <a:path w="851662" h="851662">
                  <a:moveTo>
                    <a:pt x="0" y="425831"/>
                  </a:moveTo>
                  <a:cubicBezTo>
                    <a:pt x="0" y="190627"/>
                    <a:pt x="190627" y="0"/>
                    <a:pt x="425831" y="0"/>
                  </a:cubicBezTo>
                  <a:cubicBezTo>
                    <a:pt x="661035" y="0"/>
                    <a:pt x="851662" y="190627"/>
                    <a:pt x="851662" y="425831"/>
                  </a:cubicBezTo>
                  <a:cubicBezTo>
                    <a:pt x="851662" y="661035"/>
                    <a:pt x="661035" y="851662"/>
                    <a:pt x="425831" y="851662"/>
                  </a:cubicBezTo>
                  <a:cubicBezTo>
                    <a:pt x="190627" y="851662"/>
                    <a:pt x="0" y="661035"/>
                    <a:pt x="0" y="425831"/>
                  </a:cubicBez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811045" y="6659166"/>
            <a:ext cx="287388" cy="287388"/>
          </a:xfrm>
          <a:custGeom>
            <a:avLst/>
            <a:gdLst/>
            <a:ahLst/>
            <a:cxnLst/>
            <a:rect l="l" t="t" r="r" b="b"/>
            <a:pathLst>
              <a:path w="287388" h="287388">
                <a:moveTo>
                  <a:pt x="0" y="0"/>
                </a:moveTo>
                <a:lnTo>
                  <a:pt x="287389" y="0"/>
                </a:lnTo>
                <a:lnTo>
                  <a:pt x="287389" y="287388"/>
                </a:lnTo>
                <a:lnTo>
                  <a:pt x="0" y="2873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9635433" y="7325620"/>
            <a:ext cx="2661790" cy="34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Insights Gained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35433" y="7814072"/>
            <a:ext cx="6029916" cy="108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model successfully identified rising and declining trends in COVID-19 cases, helping to better understand the progression and spread patterns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2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2238" y="1757210"/>
            <a:ext cx="9294762" cy="689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dirty="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Real-World Impact &amp; Applications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92238" y="2919708"/>
            <a:ext cx="4580934" cy="3324073"/>
          </a:xfrm>
          <a:custGeom>
            <a:avLst/>
            <a:gdLst/>
            <a:ahLst/>
            <a:cxnLst/>
            <a:rect l="l" t="t" r="r" b="b"/>
            <a:pathLst>
              <a:path w="4580934" h="3324073">
                <a:moveTo>
                  <a:pt x="0" y="0"/>
                </a:moveTo>
                <a:lnTo>
                  <a:pt x="4580935" y="0"/>
                </a:lnTo>
                <a:lnTo>
                  <a:pt x="4580935" y="3324072"/>
                </a:lnTo>
                <a:lnTo>
                  <a:pt x="0" y="3324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75759" y="3184179"/>
            <a:ext cx="4125364" cy="856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Healthcare Preparedness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759" y="4173436"/>
            <a:ext cx="401389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Helps hospitals prepare for case surges and manage resources better.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5856684" y="2919708"/>
            <a:ext cx="4581077" cy="3324073"/>
          </a:xfrm>
          <a:custGeom>
            <a:avLst/>
            <a:gdLst/>
            <a:ahLst/>
            <a:cxnLst/>
            <a:rect l="l" t="t" r="r" b="b"/>
            <a:pathLst>
              <a:path w="4581077" h="3324073">
                <a:moveTo>
                  <a:pt x="0" y="0"/>
                </a:moveTo>
                <a:lnTo>
                  <a:pt x="4581078" y="0"/>
                </a:lnTo>
                <a:lnTo>
                  <a:pt x="4581078" y="3324072"/>
                </a:lnTo>
                <a:lnTo>
                  <a:pt x="0" y="3324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140206" y="3106787"/>
            <a:ext cx="3841994" cy="42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Government Planning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40206" y="3730523"/>
            <a:ext cx="4014045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Supports policy decisions and guides public health response.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92238" y="6527302"/>
            <a:ext cx="9445523" cy="1973904"/>
          </a:xfrm>
          <a:custGeom>
            <a:avLst/>
            <a:gdLst/>
            <a:ahLst/>
            <a:cxnLst/>
            <a:rect l="l" t="t" r="r" b="b"/>
            <a:pathLst>
              <a:path w="9445523" h="1973904">
                <a:moveTo>
                  <a:pt x="0" y="0"/>
                </a:moveTo>
                <a:lnTo>
                  <a:pt x="9445524" y="0"/>
                </a:lnTo>
                <a:lnTo>
                  <a:pt x="9445524" y="1973903"/>
                </a:lnTo>
                <a:lnTo>
                  <a:pt x="0" y="19739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" r="-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75759" y="6714381"/>
            <a:ext cx="4125364" cy="42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Early Warning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759" y="7338117"/>
            <a:ext cx="887849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Alerts authorities early to prevent outbreak surges.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8545" y="668236"/>
            <a:ext cx="7328144" cy="64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System Architecture: Flowchart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7176497" y="1811979"/>
            <a:ext cx="3934720" cy="6707086"/>
          </a:xfrm>
          <a:custGeom>
            <a:avLst/>
            <a:gdLst/>
            <a:ahLst/>
            <a:cxnLst/>
            <a:rect l="l" t="t" r="r" b="b"/>
            <a:pathLst>
              <a:path w="3934720" h="6707086">
                <a:moveTo>
                  <a:pt x="0" y="0"/>
                </a:moveTo>
                <a:lnTo>
                  <a:pt x="3934720" y="0"/>
                </a:lnTo>
                <a:lnTo>
                  <a:pt x="3934720" y="6707086"/>
                </a:lnTo>
                <a:lnTo>
                  <a:pt x="0" y="6707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38545" y="8714480"/>
            <a:ext cx="1581075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This flowchart illustrates the sequential steps involved in our COVID-19 prediction model, from raw data ingestion to final visualization of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29583"/>
            <a:ext cx="8138217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Algorithmic Logic: Pseudocode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233908"/>
            <a:ext cx="16303523" cy="5868591"/>
            <a:chOff x="0" y="0"/>
            <a:chExt cx="21738031" cy="78247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8082" cy="7824724"/>
            </a:xfrm>
            <a:custGeom>
              <a:avLst/>
              <a:gdLst/>
              <a:ahLst/>
              <a:cxnLst/>
              <a:rect l="l" t="t" r="r" b="b"/>
              <a:pathLst>
                <a:path w="21738082" h="782472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332" y="0"/>
                  </a:lnTo>
                  <a:cubicBezTo>
                    <a:pt x="21666963" y="0"/>
                    <a:pt x="21738082" y="71120"/>
                    <a:pt x="21738082" y="158750"/>
                  </a:cubicBezTo>
                  <a:lnTo>
                    <a:pt x="21738082" y="7665974"/>
                  </a:lnTo>
                  <a:cubicBezTo>
                    <a:pt x="21738082" y="7753604"/>
                    <a:pt x="21666963" y="7824724"/>
                    <a:pt x="21579332" y="7824724"/>
                  </a:cubicBezTo>
                  <a:lnTo>
                    <a:pt x="158750" y="7824724"/>
                  </a:lnTo>
                  <a:cubicBezTo>
                    <a:pt x="71120" y="7824724"/>
                    <a:pt x="0" y="7753604"/>
                    <a:pt x="0" y="7665974"/>
                  </a:cubicBezTo>
                  <a:close/>
                </a:path>
              </a:pathLst>
            </a:custGeom>
            <a:solidFill>
              <a:srgbClr val="F2EB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8103" y="2233908"/>
            <a:ext cx="16331803" cy="5868591"/>
            <a:chOff x="0" y="0"/>
            <a:chExt cx="21775738" cy="7824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75801" cy="7824850"/>
            </a:xfrm>
            <a:custGeom>
              <a:avLst/>
              <a:gdLst/>
              <a:ahLst/>
              <a:cxnLst/>
              <a:rect l="l" t="t" r="r" b="b"/>
              <a:pathLst>
                <a:path w="21775801" h="782485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719032" y="0"/>
                  </a:lnTo>
                  <a:cubicBezTo>
                    <a:pt x="21750401" y="0"/>
                    <a:pt x="21775801" y="25400"/>
                    <a:pt x="21775801" y="56769"/>
                  </a:cubicBezTo>
                  <a:lnTo>
                    <a:pt x="21775801" y="7768082"/>
                  </a:lnTo>
                  <a:cubicBezTo>
                    <a:pt x="21775801" y="7799450"/>
                    <a:pt x="21750401" y="7824850"/>
                    <a:pt x="21719032" y="7824850"/>
                  </a:cubicBezTo>
                  <a:lnTo>
                    <a:pt x="56769" y="7824850"/>
                  </a:lnTo>
                  <a:cubicBezTo>
                    <a:pt x="25400" y="7824850"/>
                    <a:pt x="0" y="7799450"/>
                    <a:pt x="0" y="7768082"/>
                  </a:cubicBezTo>
                  <a:close/>
                </a:path>
              </a:pathLst>
            </a:custGeom>
            <a:solidFill>
              <a:srgbClr val="F2EB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61615" y="2313089"/>
            <a:ext cx="15764770" cy="557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Load COVID-19 dataset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Clean and preprocess data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Generate time-series features (lag, rolling average, growth rate)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Split data into training and testing sets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Train Linear Regression and Random Forest models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Evaluate models using MAE, RMSE, and MAPE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Select the best-performing model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Accept recent COVID-19 case input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Prepare input features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Predict next-day COVID-19 cases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8335718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This pseudocode outlines the core computational logic behind our machine learning prediction system, detailing each major phase.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11784359" y="2068859"/>
            <a:ext cx="6149283" cy="6149283"/>
          </a:xfrm>
          <a:custGeom>
            <a:avLst/>
            <a:gdLst/>
            <a:ahLst/>
            <a:cxnLst/>
            <a:rect l="l" t="t" r="r" b="b"/>
            <a:pathLst>
              <a:path w="6149283" h="6149283">
                <a:moveTo>
                  <a:pt x="0" y="0"/>
                </a:moveTo>
                <a:lnTo>
                  <a:pt x="6149282" y="0"/>
                </a:lnTo>
                <a:lnTo>
                  <a:pt x="6149282" y="6149282"/>
                </a:lnTo>
                <a:lnTo>
                  <a:pt x="0" y="614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92238" y="1930746"/>
            <a:ext cx="9445523" cy="539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75"/>
              </a:lnSpc>
            </a:pPr>
            <a:r>
              <a:rPr lang="en-US" sz="1668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7719717"/>
            <a:ext cx="4252912" cy="56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BF3554F29F304E8442B29CD9C45858" ma:contentTypeVersion="5" ma:contentTypeDescription="Create a new document." ma:contentTypeScope="" ma:versionID="2685277181cda5045840c8553ea94cae">
  <xsd:schema xmlns:xsd="http://www.w3.org/2001/XMLSchema" xmlns:xs="http://www.w3.org/2001/XMLSchema" xmlns:p="http://schemas.microsoft.com/office/2006/metadata/properties" xmlns:ns3="2ef87cd8-cc30-477c-9e47-74a3073abce3" targetNamespace="http://schemas.microsoft.com/office/2006/metadata/properties" ma:root="true" ma:fieldsID="920f65d03813df086c0f07e4fc66348e" ns3:_="">
    <xsd:import namespace="2ef87cd8-cc30-477c-9e47-74a3073abc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f87cd8-cc30-477c-9e47-74a3073abc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85F63B-2DBF-4FBF-8E3E-980DAA75E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f87cd8-cc30-477c-9e47-74a3073abc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BA1F07-59BA-4C3C-BE22-3A8093E3D4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F2AAD9-795C-4FFF-8C77-7638788FEA13}">
  <ds:schemaRefs>
    <ds:schemaRef ds:uri="2ef87cd8-cc30-477c-9e47-74a3073abce3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441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Bitter</vt:lpstr>
      <vt:lpstr>Arial</vt:lpstr>
      <vt:lpstr>Open Sans</vt:lpstr>
      <vt:lpstr>Consolas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Muna Pun</cp:lastModifiedBy>
  <cp:revision>4</cp:revision>
  <dcterms:created xsi:type="dcterms:W3CDTF">2006-08-16T00:00:00Z</dcterms:created>
  <dcterms:modified xsi:type="dcterms:W3CDTF">2026-01-20T15:53:04Z</dcterms:modified>
  <dc:identifier>DAG-9-NAWrY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0x010100FABF3554F29F304E8442B29CD9C45858</vt:lpwstr>
  </property>
</Properties>
</file>