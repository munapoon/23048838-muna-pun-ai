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itter" charset="1" panose="020000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4654" y="4241597"/>
            <a:ext cx="6148683" cy="1803644"/>
            <a:chOff x="0" y="0"/>
            <a:chExt cx="8198244" cy="240485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198231" cy="2404872"/>
            </a:xfrm>
            <a:custGeom>
              <a:avLst/>
              <a:gdLst/>
              <a:ahLst/>
              <a:cxnLst/>
              <a:rect r="r" b="b" t="t" l="l"/>
              <a:pathLst>
                <a:path h="2404872" w="8198231">
                  <a:moveTo>
                    <a:pt x="0" y="0"/>
                  </a:moveTo>
                  <a:lnTo>
                    <a:pt x="8198231" y="0"/>
                  </a:lnTo>
                  <a:lnTo>
                    <a:pt x="8198231" y="2404872"/>
                  </a:lnTo>
                  <a:lnTo>
                    <a:pt x="0" y="2404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" r="0" b="-6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50238" y="3070917"/>
            <a:ext cx="9445523" cy="183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COVID-19 Prediction Using Machine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8" y="5163293"/>
            <a:ext cx="9445523" cy="19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Name</a:t>
            </a:r>
            <a:r>
              <a:rPr lang="en-US" sz="2187" b="true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- Muna Pun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Londonmet ID- </a:t>
            </a:r>
            <a:r>
              <a:rPr lang="en-US" sz="2187" b="true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23048838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CU6051NP –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9" id="9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" t="0" r="-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1174994"/>
            <a:ext cx="5670652" cy="7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AI Used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87476" y="2786510"/>
            <a:ext cx="4590478" cy="3467386"/>
          </a:xfrm>
          <a:custGeom>
            <a:avLst/>
            <a:gdLst/>
            <a:ahLst/>
            <a:cxnLst/>
            <a:rect r="r" b="b" t="t" l="l"/>
            <a:pathLst>
              <a:path h="3467386" w="4590478">
                <a:moveTo>
                  <a:pt x="0" y="0"/>
                </a:moveTo>
                <a:lnTo>
                  <a:pt x="4590478" y="0"/>
                </a:lnTo>
                <a:lnTo>
                  <a:pt x="4590478" y="3467386"/>
                </a:lnTo>
                <a:lnTo>
                  <a:pt x="0" y="3467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7476" y="2748410"/>
            <a:ext cx="4590478" cy="161925"/>
          </a:xfrm>
          <a:custGeom>
            <a:avLst/>
            <a:gdLst/>
            <a:ahLst/>
            <a:cxnLst/>
            <a:rect r="r" b="b" t="t" l="l"/>
            <a:pathLst>
              <a:path h="161925" w="4590478">
                <a:moveTo>
                  <a:pt x="0" y="0"/>
                </a:moveTo>
                <a:lnTo>
                  <a:pt x="4590478" y="0"/>
                </a:lnTo>
                <a:lnTo>
                  <a:pt x="4590478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52661" y="2361305"/>
            <a:ext cx="860108" cy="860107"/>
          </a:xfrm>
          <a:custGeom>
            <a:avLst/>
            <a:gdLst/>
            <a:ahLst/>
            <a:cxnLst/>
            <a:rect r="r" b="b" t="t" l="l"/>
            <a:pathLst>
              <a:path h="860107" w="860108">
                <a:moveTo>
                  <a:pt x="0" y="0"/>
                </a:moveTo>
                <a:lnTo>
                  <a:pt x="860108" y="0"/>
                </a:lnTo>
                <a:lnTo>
                  <a:pt x="860108" y="860107"/>
                </a:lnTo>
                <a:lnTo>
                  <a:pt x="0" y="8601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12513" y="2350141"/>
            <a:ext cx="340223" cy="65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859" y="346189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Supervised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859" y="3941559"/>
            <a:ext cx="3937692" cy="15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Uses labeled data to learn patterns and make predictions.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851922" y="2786510"/>
            <a:ext cx="4590574" cy="3467386"/>
          </a:xfrm>
          <a:custGeom>
            <a:avLst/>
            <a:gdLst/>
            <a:ahLst/>
            <a:cxnLst/>
            <a:rect r="r" b="b" t="t" l="l"/>
            <a:pathLst>
              <a:path h="3467386" w="4590574">
                <a:moveTo>
                  <a:pt x="0" y="0"/>
                </a:moveTo>
                <a:lnTo>
                  <a:pt x="4590574" y="0"/>
                </a:lnTo>
                <a:lnTo>
                  <a:pt x="4590574" y="3467386"/>
                </a:lnTo>
                <a:lnTo>
                  <a:pt x="0" y="34673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851922" y="2748410"/>
            <a:ext cx="4590574" cy="161925"/>
          </a:xfrm>
          <a:custGeom>
            <a:avLst/>
            <a:gdLst/>
            <a:ahLst/>
            <a:cxnLst/>
            <a:rect r="r" b="b" t="t" l="l"/>
            <a:pathLst>
              <a:path h="161925" w="4590574">
                <a:moveTo>
                  <a:pt x="0" y="0"/>
                </a:moveTo>
                <a:lnTo>
                  <a:pt x="4590574" y="0"/>
                </a:lnTo>
                <a:lnTo>
                  <a:pt x="4590574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717107" y="2361305"/>
            <a:ext cx="860108" cy="860107"/>
          </a:xfrm>
          <a:custGeom>
            <a:avLst/>
            <a:gdLst/>
            <a:ahLst/>
            <a:cxnLst/>
            <a:rect r="r" b="b" t="t" l="l"/>
            <a:pathLst>
              <a:path h="860107" w="860108">
                <a:moveTo>
                  <a:pt x="0" y="0"/>
                </a:moveTo>
                <a:lnTo>
                  <a:pt x="860108" y="0"/>
                </a:lnTo>
                <a:lnTo>
                  <a:pt x="860108" y="860107"/>
                </a:lnTo>
                <a:lnTo>
                  <a:pt x="0" y="8601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76968" y="2350141"/>
            <a:ext cx="340223" cy="65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8965" y="3416208"/>
            <a:ext cx="4221337" cy="43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Regression Techniques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78306" y="3941559"/>
            <a:ext cx="3937845" cy="19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Uses two methods: Linear Regression for trends and Random Forest for stronger predictions.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87476" y="6953098"/>
            <a:ext cx="9455086" cy="2106549"/>
          </a:xfrm>
          <a:custGeom>
            <a:avLst/>
            <a:gdLst/>
            <a:ahLst/>
            <a:cxnLst/>
            <a:rect r="r" b="b" t="t" l="l"/>
            <a:pathLst>
              <a:path h="2106549" w="9455086">
                <a:moveTo>
                  <a:pt x="0" y="0"/>
                </a:moveTo>
                <a:lnTo>
                  <a:pt x="9455086" y="0"/>
                </a:lnTo>
                <a:lnTo>
                  <a:pt x="9455086" y="2106549"/>
                </a:lnTo>
                <a:lnTo>
                  <a:pt x="0" y="21065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87476" y="6914998"/>
            <a:ext cx="9455086" cy="161925"/>
          </a:xfrm>
          <a:custGeom>
            <a:avLst/>
            <a:gdLst/>
            <a:ahLst/>
            <a:cxnLst/>
            <a:rect r="r" b="b" t="t" l="l"/>
            <a:pathLst>
              <a:path h="161925" w="9455086">
                <a:moveTo>
                  <a:pt x="0" y="0"/>
                </a:moveTo>
                <a:lnTo>
                  <a:pt x="9455086" y="0"/>
                </a:lnTo>
                <a:lnTo>
                  <a:pt x="9455086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284965" y="6527902"/>
            <a:ext cx="860108" cy="860108"/>
          </a:xfrm>
          <a:custGeom>
            <a:avLst/>
            <a:gdLst/>
            <a:ahLst/>
            <a:cxnLst/>
            <a:rect r="r" b="b" t="t" l="l"/>
            <a:pathLst>
              <a:path h="860108" w="860108">
                <a:moveTo>
                  <a:pt x="0" y="0"/>
                </a:moveTo>
                <a:lnTo>
                  <a:pt x="860108" y="0"/>
                </a:lnTo>
                <a:lnTo>
                  <a:pt x="860108" y="860107"/>
                </a:lnTo>
                <a:lnTo>
                  <a:pt x="0" y="8601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544817" y="6516738"/>
            <a:ext cx="340223" cy="65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3859" y="762848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Model Evaluation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3859" y="8108156"/>
            <a:ext cx="8802291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Measured using MAE, RMSE, and MAPE metrics.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652977"/>
            <a:ext cx="5670652" cy="7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Research &amp; Evidence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272" y="2104949"/>
            <a:ext cx="9505359" cy="107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COVID-19 Data Analytics: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WHO and Johns Hopkins datasets for analysis and prediction.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0272" y="3621281"/>
            <a:ext cx="9505359" cy="107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Effectiveness: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ML models excel at short-term disease trend forecasting.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272" y="5109867"/>
            <a:ext cx="9505359" cy="107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Supervised Learning in Healthcare:</a:t>
            </a: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Proven methodology for disease trend prediction.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5632" y="1397803"/>
            <a:ext cx="7867431" cy="4694282"/>
            <a:chOff x="0" y="0"/>
            <a:chExt cx="10489908" cy="625904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-24000">
              <a:off x="-21720" y="-36540"/>
              <a:ext cx="10533386" cy="6332148"/>
            </a:xfrm>
            <a:custGeom>
              <a:avLst/>
              <a:gdLst/>
              <a:ahLst/>
              <a:cxnLst/>
              <a:rect r="r" b="b" t="t" l="l"/>
              <a:pathLst>
                <a:path h="6332148" w="10533386">
                  <a:moveTo>
                    <a:pt x="43696" y="0"/>
                  </a:moveTo>
                  <a:lnTo>
                    <a:pt x="10533386" y="73233"/>
                  </a:lnTo>
                  <a:lnTo>
                    <a:pt x="10489690" y="6332148"/>
                  </a:lnTo>
                  <a:lnTo>
                    <a:pt x="0" y="6258915"/>
                  </a:lnTo>
                  <a:lnTo>
                    <a:pt x="43696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1887" b="-541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63813" y="6799231"/>
            <a:ext cx="16303523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These established methods provide a strong foundation for the reliability and impact of our predictive model.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499540"/>
            <a:ext cx="6167733" cy="7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Why This Topic Matters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92238" y="2999480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10" r="0" b="-111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2238" y="416629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645971"/>
            <a:ext cx="7974511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Full AI pipeline: data to visualization.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321108" y="2999480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666" t="0" r="-666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21108" y="416629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Social Relevance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1108" y="4645971"/>
            <a:ext cx="7974654" cy="107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COVID-19 impact makes accurate prediction crucial for public health.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92238" y="6291710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32" t="0" r="-833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2238" y="745852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Practical Importance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938192"/>
            <a:ext cx="7974511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Enables healthcare planning and resource allocation.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321108" y="6291710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55" r="0" b="-55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321108" y="7458523"/>
            <a:ext cx="361727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Learning Opportunity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1108" y="7938192"/>
            <a:ext cx="7974654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Real-world AI application bridging theory and practice.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21465" y="2876550"/>
            <a:ext cx="6148978" cy="4509345"/>
            <a:chOff x="0" y="0"/>
            <a:chExt cx="8198637" cy="601245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198612" cy="6012434"/>
            </a:xfrm>
            <a:custGeom>
              <a:avLst/>
              <a:gdLst/>
              <a:ahLst/>
              <a:cxnLst/>
              <a:rect r="r" b="b" t="t" l="l"/>
              <a:pathLst>
                <a:path h="6012434" w="8198612">
                  <a:moveTo>
                    <a:pt x="0" y="0"/>
                  </a:moveTo>
                  <a:lnTo>
                    <a:pt x="8198612" y="0"/>
                  </a:lnTo>
                  <a:lnTo>
                    <a:pt x="8198612" y="6012434"/>
                  </a:lnTo>
                  <a:lnTo>
                    <a:pt x="0" y="6012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1401966"/>
            <a:ext cx="9445523" cy="147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Our Solution: Predictive Application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45476" y="3740791"/>
            <a:ext cx="4590478" cy="47625"/>
            <a:chOff x="0" y="0"/>
            <a:chExt cx="6120638" cy="6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6107938" cy="50800"/>
            </a:xfrm>
            <a:custGeom>
              <a:avLst/>
              <a:gdLst/>
              <a:ahLst/>
              <a:cxnLst/>
              <a:rect r="r" b="b" t="t" l="l"/>
              <a:pathLst>
                <a:path h="50800" w="6107938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4956" cy="67818"/>
            </a:xfrm>
            <a:custGeom>
              <a:avLst/>
              <a:gdLst/>
              <a:ahLst/>
              <a:cxnLst/>
              <a:rect r="r" b="b" t="t" l="l"/>
              <a:pathLst>
                <a:path h="67818" w="6124956">
                  <a:moveTo>
                    <a:pt x="8509" y="0"/>
                  </a:moveTo>
                  <a:lnTo>
                    <a:pt x="6116447" y="0"/>
                  </a:lnTo>
                  <a:cubicBezTo>
                    <a:pt x="6121146" y="0"/>
                    <a:pt x="6124956" y="3810"/>
                    <a:pt x="6124956" y="8509"/>
                  </a:cubicBezTo>
                  <a:lnTo>
                    <a:pt x="6124956" y="59309"/>
                  </a:lnTo>
                  <a:cubicBezTo>
                    <a:pt x="6124956" y="64008"/>
                    <a:pt x="6121146" y="67818"/>
                    <a:pt x="6116447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59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09"/>
                  </a:lnTo>
                  <a:lnTo>
                    <a:pt x="8509" y="59309"/>
                  </a:lnTo>
                  <a:lnTo>
                    <a:pt x="8509" y="50800"/>
                  </a:lnTo>
                  <a:lnTo>
                    <a:pt x="6116447" y="50800"/>
                  </a:lnTo>
                  <a:lnTo>
                    <a:pt x="6116447" y="59309"/>
                  </a:lnTo>
                  <a:lnTo>
                    <a:pt x="6107938" y="59309"/>
                  </a:lnTo>
                  <a:lnTo>
                    <a:pt x="6107938" y="8509"/>
                  </a:lnTo>
                  <a:lnTo>
                    <a:pt x="6116447" y="8509"/>
                  </a:lnTo>
                  <a:lnTo>
                    <a:pt x="611644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344119" y="392206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Data Preparation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0238" y="4405017"/>
            <a:ext cx="4580934" cy="15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Cleaned COVID-19 datasets and split into training and testing sets.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09922" y="3740791"/>
            <a:ext cx="4590574" cy="47625"/>
            <a:chOff x="0" y="0"/>
            <a:chExt cx="6120765" cy="6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6108065" cy="50800"/>
            </a:xfrm>
            <a:custGeom>
              <a:avLst/>
              <a:gdLst/>
              <a:ahLst/>
              <a:cxnLst/>
              <a:rect r="r" b="b" t="t" l="l"/>
              <a:pathLst>
                <a:path h="50800" w="6108065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5083" cy="67818"/>
            </a:xfrm>
            <a:custGeom>
              <a:avLst/>
              <a:gdLst/>
              <a:ahLst/>
              <a:cxnLst/>
              <a:rect r="r" b="b" t="t" l="l"/>
              <a:pathLst>
                <a:path h="67818" w="6125083">
                  <a:moveTo>
                    <a:pt x="8509" y="0"/>
                  </a:moveTo>
                  <a:lnTo>
                    <a:pt x="6116574" y="0"/>
                  </a:lnTo>
                  <a:cubicBezTo>
                    <a:pt x="6121273" y="0"/>
                    <a:pt x="6125083" y="3810"/>
                    <a:pt x="6125083" y="8509"/>
                  </a:cubicBezTo>
                  <a:lnTo>
                    <a:pt x="6125083" y="59309"/>
                  </a:lnTo>
                  <a:cubicBezTo>
                    <a:pt x="6125083" y="64008"/>
                    <a:pt x="6121273" y="67818"/>
                    <a:pt x="6116574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59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09"/>
                  </a:lnTo>
                  <a:lnTo>
                    <a:pt x="8509" y="59309"/>
                  </a:lnTo>
                  <a:lnTo>
                    <a:pt x="8509" y="50800"/>
                  </a:lnTo>
                  <a:lnTo>
                    <a:pt x="6116574" y="50800"/>
                  </a:lnTo>
                  <a:lnTo>
                    <a:pt x="6116574" y="59309"/>
                  </a:lnTo>
                  <a:lnTo>
                    <a:pt x="6108065" y="59309"/>
                  </a:lnTo>
                  <a:lnTo>
                    <a:pt x="6108065" y="8509"/>
                  </a:lnTo>
                  <a:lnTo>
                    <a:pt x="6116574" y="8509"/>
                  </a:lnTo>
                  <a:lnTo>
                    <a:pt x="6116574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561828" y="392206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Model Training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14684" y="4405017"/>
            <a:ext cx="4581077" cy="19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Trained Linear Regression and Random Forest models and evaluated them using MAE, RMSE, and MAPE metrics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45476" y="7326068"/>
            <a:ext cx="9455086" cy="47625"/>
            <a:chOff x="0" y="0"/>
            <a:chExt cx="12606782" cy="63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2600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11100" cy="67818"/>
            </a:xfrm>
            <a:custGeom>
              <a:avLst/>
              <a:gdLst/>
              <a:ahLst/>
              <a:cxnLst/>
              <a:rect r="r" b="b" t="t" l="l"/>
              <a:pathLst>
                <a:path h="67818" w="12611100">
                  <a:moveTo>
                    <a:pt x="8509" y="0"/>
                  </a:moveTo>
                  <a:lnTo>
                    <a:pt x="12602591" y="0"/>
                  </a:lnTo>
                  <a:cubicBezTo>
                    <a:pt x="12607290" y="0"/>
                    <a:pt x="12611100" y="3810"/>
                    <a:pt x="12611100" y="8509"/>
                  </a:cubicBezTo>
                  <a:lnTo>
                    <a:pt x="12611100" y="59309"/>
                  </a:lnTo>
                  <a:cubicBezTo>
                    <a:pt x="12611100" y="64008"/>
                    <a:pt x="12607290" y="67818"/>
                    <a:pt x="1260259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59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09"/>
                  </a:lnTo>
                  <a:lnTo>
                    <a:pt x="8509" y="59309"/>
                  </a:lnTo>
                  <a:lnTo>
                    <a:pt x="8509" y="50800"/>
                  </a:lnTo>
                  <a:lnTo>
                    <a:pt x="12602591" y="50800"/>
                  </a:lnTo>
                  <a:lnTo>
                    <a:pt x="12602591" y="59309"/>
                  </a:lnTo>
                  <a:lnTo>
                    <a:pt x="12594082" y="59309"/>
                  </a:lnTo>
                  <a:lnTo>
                    <a:pt x="12594082" y="8509"/>
                  </a:lnTo>
                  <a:lnTo>
                    <a:pt x="12602591" y="8509"/>
                  </a:lnTo>
                  <a:lnTo>
                    <a:pt x="1260259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133759" y="750392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Implementation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50238" y="7990284"/>
            <a:ext cx="9445523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Built application for case prediction with graph-based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745904" y="587873"/>
            <a:ext cx="4678566" cy="64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Results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45904" y="1843830"/>
            <a:ext cx="6436223" cy="6950126"/>
            <a:chOff x="0" y="0"/>
            <a:chExt cx="8581631" cy="926683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581644" cy="9266809"/>
            </a:xfrm>
            <a:custGeom>
              <a:avLst/>
              <a:gdLst/>
              <a:ahLst/>
              <a:cxnLst/>
              <a:rect r="r" b="b" t="t" l="l"/>
              <a:pathLst>
                <a:path h="9266809" w="8581644">
                  <a:moveTo>
                    <a:pt x="0" y="0"/>
                  </a:moveTo>
                  <a:lnTo>
                    <a:pt x="8581644" y="0"/>
                  </a:lnTo>
                  <a:lnTo>
                    <a:pt x="8581644" y="9266809"/>
                  </a:lnTo>
                  <a:lnTo>
                    <a:pt x="0" y="9266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" t="0" r="-47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429302" y="1834305"/>
            <a:ext cx="7131844" cy="3163538"/>
          </a:xfrm>
          <a:custGeom>
            <a:avLst/>
            <a:gdLst/>
            <a:ahLst/>
            <a:cxnLst/>
            <a:rect r="r" b="b" t="t" l="l"/>
            <a:pathLst>
              <a:path h="3163538" w="7131844">
                <a:moveTo>
                  <a:pt x="0" y="0"/>
                </a:moveTo>
                <a:lnTo>
                  <a:pt x="7131844" y="0"/>
                </a:lnTo>
                <a:lnTo>
                  <a:pt x="7131844" y="3163539"/>
                </a:lnTo>
                <a:lnTo>
                  <a:pt x="0" y="316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77400" y="2082403"/>
            <a:ext cx="711232" cy="711232"/>
          </a:xfrm>
          <a:custGeom>
            <a:avLst/>
            <a:gdLst/>
            <a:ahLst/>
            <a:cxnLst/>
            <a:rect r="r" b="b" t="t" l="l"/>
            <a:pathLst>
              <a:path h="711232" w="711232">
                <a:moveTo>
                  <a:pt x="0" y="0"/>
                </a:moveTo>
                <a:lnTo>
                  <a:pt x="711232" y="0"/>
                </a:lnTo>
                <a:lnTo>
                  <a:pt x="711232" y="711232"/>
                </a:lnTo>
                <a:lnTo>
                  <a:pt x="0" y="71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9875196" y="2280047"/>
            <a:ext cx="315668" cy="315668"/>
          </a:xfrm>
          <a:custGeom>
            <a:avLst/>
            <a:gdLst/>
            <a:ahLst/>
            <a:cxnLst/>
            <a:rect r="r" b="b" t="t" l="l"/>
            <a:pathLst>
              <a:path h="315668" w="315668">
                <a:moveTo>
                  <a:pt x="0" y="0"/>
                </a:moveTo>
                <a:lnTo>
                  <a:pt x="315668" y="0"/>
                </a:lnTo>
                <a:lnTo>
                  <a:pt x="315668" y="315668"/>
                </a:lnTo>
                <a:lnTo>
                  <a:pt x="0" y="315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411" t="0" r="-441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82162" y="2984602"/>
            <a:ext cx="2924023" cy="40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249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Model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2162" y="3488684"/>
            <a:ext cx="6626123" cy="125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292" indent="-118431" lvl="2">
              <a:lnSpc>
                <a:spcPts val="2937"/>
              </a:lnSpc>
              <a:buFont typeface="Arial"/>
              <a:buChar char="⚬"/>
            </a:pPr>
            <a:r>
              <a:rPr lang="en-US" sz="1812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Our model consistently delivered stable and reliable </a:t>
            </a:r>
            <a:r>
              <a:rPr lang="en-US" b="true" sz="1812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short-term predictions</a:t>
            </a:r>
            <a:r>
              <a:rPr lang="en-US" sz="1812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with remarkably low prediction error rates.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429302" y="5212556"/>
            <a:ext cx="7131844" cy="3163538"/>
          </a:xfrm>
          <a:custGeom>
            <a:avLst/>
            <a:gdLst/>
            <a:ahLst/>
            <a:cxnLst/>
            <a:rect r="r" b="b" t="t" l="l"/>
            <a:pathLst>
              <a:path h="3163538" w="7131844">
                <a:moveTo>
                  <a:pt x="0" y="0"/>
                </a:moveTo>
                <a:lnTo>
                  <a:pt x="7131844" y="0"/>
                </a:lnTo>
                <a:lnTo>
                  <a:pt x="7131844" y="3163538"/>
                </a:lnTo>
                <a:lnTo>
                  <a:pt x="0" y="316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77400" y="5460654"/>
            <a:ext cx="711232" cy="711232"/>
          </a:xfrm>
          <a:custGeom>
            <a:avLst/>
            <a:gdLst/>
            <a:ahLst/>
            <a:cxnLst/>
            <a:rect r="r" b="b" t="t" l="l"/>
            <a:pathLst>
              <a:path h="711232" w="711232">
                <a:moveTo>
                  <a:pt x="0" y="0"/>
                </a:moveTo>
                <a:lnTo>
                  <a:pt x="711232" y="0"/>
                </a:lnTo>
                <a:lnTo>
                  <a:pt x="711232" y="711232"/>
                </a:lnTo>
                <a:lnTo>
                  <a:pt x="0" y="71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9875196" y="5658298"/>
            <a:ext cx="315668" cy="315668"/>
          </a:xfrm>
          <a:custGeom>
            <a:avLst/>
            <a:gdLst/>
            <a:ahLst/>
            <a:cxnLst/>
            <a:rect r="r" b="b" t="t" l="l"/>
            <a:pathLst>
              <a:path h="315668" w="315668">
                <a:moveTo>
                  <a:pt x="0" y="0"/>
                </a:moveTo>
                <a:lnTo>
                  <a:pt x="315668" y="0"/>
                </a:lnTo>
                <a:lnTo>
                  <a:pt x="315668" y="315668"/>
                </a:lnTo>
                <a:lnTo>
                  <a:pt x="0" y="315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82162" y="6362852"/>
            <a:ext cx="2924023" cy="40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249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Insights Gained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82162" y="6866934"/>
            <a:ext cx="6626123" cy="125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292" indent="-118431" lvl="2">
              <a:lnSpc>
                <a:spcPts val="2937"/>
              </a:lnSpc>
              <a:buFont typeface="Arial"/>
              <a:buChar char="⚬"/>
            </a:pPr>
            <a:r>
              <a:rPr lang="en-US" sz="1812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model successfully identified </a:t>
            </a:r>
            <a:r>
              <a:rPr lang="en-US" b="true" sz="1812">
                <a:solidFill>
                  <a:srgbClr val="2B2E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rising and declining trends</a:t>
            </a:r>
            <a:r>
              <a:rPr lang="en-US" sz="1812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, providing a deeper understanding of COVID-19 spread patterns.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9" id="9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" t="0" r="-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1728635"/>
            <a:ext cx="8948890" cy="7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Real-World Impact &amp; Applications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4070" y="3117504"/>
            <a:ext cx="4580934" cy="3324073"/>
            <a:chOff x="0" y="0"/>
            <a:chExt cx="6107913" cy="4432097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107938" cy="4432046"/>
            </a:xfrm>
            <a:custGeom>
              <a:avLst/>
              <a:gdLst/>
              <a:ahLst/>
              <a:cxnLst/>
              <a:rect r="r" b="b" t="t" l="l"/>
              <a:pathLst>
                <a:path h="4432046" w="6107938">
                  <a:moveTo>
                    <a:pt x="0" y="0"/>
                  </a:moveTo>
                  <a:lnTo>
                    <a:pt x="6107938" y="0"/>
                  </a:lnTo>
                  <a:lnTo>
                    <a:pt x="6107938" y="4432046"/>
                  </a:lnTo>
                  <a:lnTo>
                    <a:pt x="0" y="4432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" t="0" r="-49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5759" y="3165129"/>
            <a:ext cx="4013892" cy="85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Healthcare Preparedness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759" y="4087711"/>
            <a:ext cx="4013892" cy="15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Helps hospitals prepare for case surges and manage resources better.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6684" y="3117504"/>
            <a:ext cx="4581077" cy="3324073"/>
            <a:chOff x="0" y="0"/>
            <a:chExt cx="6108103" cy="443209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108065" cy="4432046"/>
            </a:xfrm>
            <a:custGeom>
              <a:avLst/>
              <a:gdLst/>
              <a:ahLst/>
              <a:cxnLst/>
              <a:rect r="r" b="b" t="t" l="l"/>
              <a:pathLst>
                <a:path h="4432046" w="6108065">
                  <a:moveTo>
                    <a:pt x="0" y="0"/>
                  </a:moveTo>
                  <a:lnTo>
                    <a:pt x="6108065" y="0"/>
                  </a:lnTo>
                  <a:lnTo>
                    <a:pt x="6108065" y="4432046"/>
                  </a:lnTo>
                  <a:lnTo>
                    <a:pt x="0" y="4432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-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40206" y="3165129"/>
            <a:ext cx="366191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Government Planning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27084" y="4087711"/>
            <a:ext cx="4014045" cy="15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Supports policy decisions and guides public health response.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6527302"/>
            <a:ext cx="9445523" cy="2375070"/>
            <a:chOff x="0" y="0"/>
            <a:chExt cx="12594031" cy="3166761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594082" cy="3166699"/>
            </a:xfrm>
            <a:custGeom>
              <a:avLst/>
              <a:gdLst/>
              <a:ahLst/>
              <a:cxnLst/>
              <a:rect r="r" b="b" t="t" l="l"/>
              <a:pathLst>
                <a:path h="3166699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166699"/>
                  </a:lnTo>
                  <a:lnTo>
                    <a:pt x="0" y="31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217" t="0" r="-10217" b="-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75759" y="6772723"/>
            <a:ext cx="364376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Early Warning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7691885"/>
            <a:ext cx="8878491" cy="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Alerts authorities early to prevent outbreak surges.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21594" y="643833"/>
            <a:ext cx="7251802" cy="65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System Architecture: Flowchart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134548" y="1794872"/>
            <a:ext cx="6018762" cy="6740423"/>
            <a:chOff x="0" y="0"/>
            <a:chExt cx="8025016" cy="898723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025003" cy="8987282"/>
            </a:xfrm>
            <a:custGeom>
              <a:avLst/>
              <a:gdLst/>
              <a:ahLst/>
              <a:cxnLst/>
              <a:rect r="r" b="b" t="t" l="l"/>
              <a:pathLst>
                <a:path h="8987282" w="8025003">
                  <a:moveTo>
                    <a:pt x="0" y="0"/>
                  </a:moveTo>
                  <a:lnTo>
                    <a:pt x="8025003" y="0"/>
                  </a:lnTo>
                  <a:lnTo>
                    <a:pt x="8025003" y="8987282"/>
                  </a:lnTo>
                  <a:lnTo>
                    <a:pt x="0" y="8987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21594" y="8661054"/>
            <a:ext cx="15644660" cy="94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193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This flowchart illustrates the sequential steps involved in our COVID-19 prediction model, from raw data ingestion to final visualization of results.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83161" y="696363"/>
            <a:ext cx="8063503" cy="77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Algorithmic Logic: Pseudocode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8398" y="2031797"/>
            <a:ext cx="16331184" cy="6273736"/>
          </a:xfrm>
          <a:custGeom>
            <a:avLst/>
            <a:gdLst/>
            <a:ahLst/>
            <a:cxnLst/>
            <a:rect r="r" b="b" t="t" l="l"/>
            <a:pathLst>
              <a:path h="6273736" w="16331184">
                <a:moveTo>
                  <a:pt x="0" y="0"/>
                </a:moveTo>
                <a:lnTo>
                  <a:pt x="16331184" y="0"/>
                </a:lnTo>
                <a:lnTo>
                  <a:pt x="16331184" y="6273736"/>
                </a:lnTo>
                <a:lnTo>
                  <a:pt x="0" y="627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4406" y="2031797"/>
            <a:ext cx="16359188" cy="6273736"/>
          </a:xfrm>
          <a:custGeom>
            <a:avLst/>
            <a:gdLst/>
            <a:ahLst/>
            <a:cxnLst/>
            <a:rect r="r" b="b" t="t" l="l"/>
            <a:pathLst>
              <a:path h="6273736" w="16359188">
                <a:moveTo>
                  <a:pt x="0" y="0"/>
                </a:moveTo>
                <a:lnTo>
                  <a:pt x="16359188" y="0"/>
                </a:lnTo>
                <a:lnTo>
                  <a:pt x="16359188" y="6273736"/>
                </a:lnTo>
                <a:lnTo>
                  <a:pt x="0" y="6273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0004" y="1980457"/>
            <a:ext cx="15787983" cy="610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Load COVID-19 dataset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Clean and preprocess data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Perform feature engineering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Split dataset into training and testing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Train Linear Regression model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Train Random Forest Regression model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Evaluate models using MAE, RMSE, and MAPE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Select best performing model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Predict future cases using the best model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  Visualize prediction results and trends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83161" y="8445256"/>
            <a:ext cx="16321678" cy="107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This pseudocode outlines the core computational logic behind our machine learning prediction system, detailing each major phase.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AABCB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762" y="-4762"/>
            <a:ext cx="18297525" cy="10296525"/>
            <a:chOff x="0" y="0"/>
            <a:chExt cx="24396700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2438400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FFF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1018" cy="13733018"/>
            </a:xfrm>
            <a:custGeom>
              <a:avLst/>
              <a:gdLst/>
              <a:ahLst/>
              <a:cxnLst/>
              <a:rect r="r" b="b" t="t" l="l"/>
              <a:pathLst>
                <a:path h="13733018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3724510"/>
                  </a:lnTo>
                  <a:cubicBezTo>
                    <a:pt x="24401018" y="13729208"/>
                    <a:pt x="24397208" y="13733018"/>
                    <a:pt x="24392510" y="13733018"/>
                  </a:cubicBezTo>
                  <a:lnTo>
                    <a:pt x="8509" y="13733018"/>
                  </a:lnTo>
                  <a:cubicBezTo>
                    <a:pt x="3810" y="13733018"/>
                    <a:pt x="0" y="13729208"/>
                    <a:pt x="0" y="1372451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724510"/>
                  </a:lnTo>
                  <a:lnTo>
                    <a:pt x="8509" y="13724510"/>
                  </a:lnTo>
                  <a:lnTo>
                    <a:pt x="8509" y="13716000"/>
                  </a:lnTo>
                  <a:lnTo>
                    <a:pt x="24392510" y="13716000"/>
                  </a:lnTo>
                  <a:lnTo>
                    <a:pt x="24392510" y="13724510"/>
                  </a:lnTo>
                  <a:lnTo>
                    <a:pt x="24384000" y="13724510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784359" y="2068859"/>
            <a:ext cx="6149283" cy="6149283"/>
            <a:chOff x="0" y="0"/>
            <a:chExt cx="8199044" cy="819904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198993" cy="8198993"/>
            </a:xfrm>
            <a:custGeom>
              <a:avLst/>
              <a:gdLst/>
              <a:ahLst/>
              <a:cxnLst/>
              <a:rect r="r" b="b" t="t" l="l"/>
              <a:pathLst>
                <a:path h="8198993" w="8198993">
                  <a:moveTo>
                    <a:pt x="0" y="0"/>
                  </a:moveTo>
                  <a:lnTo>
                    <a:pt x="8198993" y="0"/>
                  </a:lnTo>
                  <a:lnTo>
                    <a:pt x="8198993" y="8198993"/>
                  </a:lnTo>
                  <a:lnTo>
                    <a:pt x="0" y="8198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854546"/>
            <a:ext cx="9445523" cy="546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5"/>
              </a:lnSpc>
            </a:pPr>
            <a:r>
              <a:rPr lang="en-US" sz="16687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691142"/>
            <a:ext cx="4252912" cy="58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DAG-3sN6UOA</dc:identifier>
  <dcterms:modified xsi:type="dcterms:W3CDTF">2011-08-01T06:04:30Z</dcterms:modified>
  <cp:revision>1</cp:revision>
  <dc:title>Healthcare Preparedness</dc:title>
</cp:coreProperties>
</file>